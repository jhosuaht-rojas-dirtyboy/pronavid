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337ACD-54AB-4CC3-A90D-E190F14571AE}">
  <a:tblStyle styleId="{22337ACD-54AB-4CC3-A90D-E190F14571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D6CA03F-5D83-467B-8366-BEEC653AB0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1068942d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1068942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1068942d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1068942d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1068942d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1068942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068942d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1068942d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274d32e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6274d32e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1068942d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1068942d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1068942d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1068942d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e457ee6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e457ee6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1068942d3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1068942d3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e457ee65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e457ee65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304d12e3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304d12e3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1068942d3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1068942d3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3057d012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3057d012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2a81dca9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2a81dca9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2a81dca9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2a81dca9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2a81dca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2a81dca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211976e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6211976e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210b9df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210b9df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210b9df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210b9df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210b9df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210b9df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210b9df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210b9df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211976e7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211976e7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210b9df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210b9df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210b9df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6210b9df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210b9df4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210b9df4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210b9df4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210b9df4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6210b9df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6210b9df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2ecfff86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2ecfff86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2ecfff8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2ecfff8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2ecfff86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62ecfff86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2ecfff86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2ecfff8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2ecfff86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2ecfff86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210b9df4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6210b9df4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210b9df4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6210b9df4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210b9df4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210b9df4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210b9df4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210b9df4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210b9df4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6210b9df4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6210b9df4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6210b9df4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210b9df4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210b9df4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210b9df4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210b9df4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210b9df4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210b9df4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210b9df4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210b9df4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aa3102151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7aa310215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aa310215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aa310215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aa310215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aa310215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7aa3102151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7aa3102151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7aa3102151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7aa3102151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aa3102151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7aa310215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aa3102151_4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7aa3102151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7aa3102151_4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7aa3102151_4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aa3102151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7aa3102151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7aa3102151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7aa3102151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aa3102151_4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7aa3102151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7aa3102151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7aa310215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aa3102151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aa3102151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aa3102151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7aa3102151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aa3102151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7aa3102151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aa3102151_5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aa3102151_5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aa3102151_5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7aa3102151_5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aa3102151_5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aa3102151_5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7aa3102151_5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7aa3102151_5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7aa3102151_5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7aa3102151_5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7aa3102151_5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7aa3102151_5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aa3102151_5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aa3102151_5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5218120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5218120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65218120e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65218120e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aa310215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7aa310215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aa310215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aa310215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7aa3102151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7aa3102151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7aa3102151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7aa3102151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7aa3102151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7aa3102151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aa3102151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7aa3102151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7aa3102151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7aa3102151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forms/d/e/1FAIpQLSdm0l6DoFSsKgOwhQhKWB0ZliHal31-0OVelrCrDQT7iUvXXw/viewform?usp=header" TargetMode="External"/><Relationship Id="rId4" Type="http://schemas.openxmlformats.org/officeDocument/2006/relationships/image" Target="../media/image8.jpg"/><Relationship Id="rId5" Type="http://schemas.openxmlformats.org/officeDocument/2006/relationships/image" Target="../media/image26.jpg"/><Relationship Id="rId6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24.jpg"/><Relationship Id="rId5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forms/d/e/1FAIpQLSftLaRVAAo66gklueiwOyMRtcFkgAFqLOk_gS0zpw7TVIlroQ/viewform?usp=header" TargetMode="External"/><Relationship Id="rId4" Type="http://schemas.openxmlformats.org/officeDocument/2006/relationships/image" Target="../media/image4.jpg"/><Relationship Id="rId5" Type="http://schemas.openxmlformats.org/officeDocument/2006/relationships/image" Target="../media/image22.jpg"/><Relationship Id="rId6" Type="http://schemas.openxmlformats.org/officeDocument/2006/relationships/image" Target="../media/image4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forms/d/e/1FAIpQLSftLaRVAAo66gklueiwOyMRtcFkgAFqLOk_gS0zpw7TVIlroQ/viewform?usp=header" TargetMode="External"/><Relationship Id="rId4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hyperlink" Target="https://drive.google.com/file/d/1GBWsyjFs3G84wBQP-weJfx9TsVpFAjUD/view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ocs.google.com/spreadsheets/d/1dJeQq5v1Tyx9WZry3C1jHoJ3m4paEUKm/edit?usp=sharing&amp;ouid=100590460596291352566&amp;rtpof=true&amp;sd=tru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6.png"/><Relationship Id="rId4" Type="http://schemas.openxmlformats.org/officeDocument/2006/relationships/hyperlink" Target="https://docs.google.com/spreadsheets/d/1f1Wq9Cu21KaF_Dkf2UfPO_7UpkQIT-wc/edit?usp=sharing&amp;ouid=104959869951525300470&amp;rtpof=true&amp;sd=true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8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drive.google.com/file/d/1im9Q0Z9ycHcYZ1vVQBu_9n9ZD8KjJHav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1275" y="2229550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Gestión</a:t>
            </a: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 de ventas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22825"/>
            <a:ext cx="8520600" cy="14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s-419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Jhon Alexander Merchan Trujillo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Sebastián Espinosa Misas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Benjamín Santos Gonzales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Jhosuaht Julián Rojas Castañeda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625" y="2845825"/>
            <a:ext cx="4681274" cy="15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5559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1" lang="es-419" sz="2222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1" sz="2222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09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S.A.S., ubicada en la localidad de Kennedy (Bogotá), y dedicada a la fabricación y comercialización de productos como cereales, galletas y turrones, presenta deficiencias significativas en la gestión de su proceso de ventas. Actualmente, esta gestión se realiza de forma manual mediante herramientas dispersas como hojas de cálculo, llamadas telefónicas y mensajes por WhatsApp.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forma de operación ha generado múltiples inconvenientes, tales como: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Errores frecuentes en el registro de pedidos y cotizaciones.</a:t>
            </a:r>
            <a:b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Pérdida de información comercial relevante.</a:t>
            </a:r>
            <a:b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Ausencia de trazabilidad en el estado de los pedidos.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Estas falencias afectan directamente la eficiencia operativa, la toma de decisiones comerciales y la fidelización de clientes, lo cual limita el crecimiento de la empresa.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60200"/>
            <a:ext cx="306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50"/>
              <a:buFont typeface="Arial"/>
              <a:buNone/>
            </a:pPr>
            <a:r>
              <a:rPr b="1" lang="es-419" sz="2666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Pregunta problema</a:t>
            </a:r>
            <a:endParaRPr b="1" sz="2666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92250"/>
            <a:ext cx="3970800" cy="28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¿Por qué un sistema de información interno orientado a la gestión de ventas, dependiente del inventario y el registro de clientes de la empresa, puede optimizar el proceso comercial de Industrias Alimenticias Pronavid S.A.S. al permitir controlar cotizaciones, pedidos e historial de ventas, mejorando la eficiencia operativa y la toma de decisiones?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500" y="1390438"/>
            <a:ext cx="4776400" cy="23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Objetivo general</a:t>
            </a:r>
            <a:endParaRPr b="1"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252000" y="1221500"/>
            <a:ext cx="4320000" cy="28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Complementar la </a:t>
            </a: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página</a:t>
            </a: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 de pronavid con un sistema de información interno para la gestión de ventas en Industrias Alimenticias Pronavid S.A.S., que permita registrar cotizaciones y pedidos, controlar su estado y generar reportes comerciales básicos, con el fin de optimizar el proceso de ventas y facilitar la toma de decisiones basada en datos.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900" y="899275"/>
            <a:ext cx="3835475" cy="370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095250" y="260200"/>
            <a:ext cx="295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específicos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-100" y="796600"/>
            <a:ext cx="9144000" cy="43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2787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8825"/>
              <a:buChar char="●"/>
            </a:pPr>
            <a: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  <a:t>Registrar de manera estructurada las cotizaciones y pedidos realizados por los clientes.</a:t>
            </a:r>
            <a:b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825"/>
              <a:buChar char="●"/>
            </a:pPr>
            <a: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  <a:t>Controlar el estado de los pedidos (pendiente, en proceso, entregado o cancelado).</a:t>
            </a:r>
            <a:b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825"/>
              <a:buChar char="●"/>
            </a:pPr>
            <a: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  <a:t>Visualizar el historial de compras y pedidos por cliente.</a:t>
            </a:r>
            <a:b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825"/>
              <a:buChar char="●"/>
            </a:pPr>
            <a: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  <a:t>Generar reportes básicos de ventas, como productos más vendidos o clientes frecuentes.</a:t>
            </a:r>
            <a:b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825"/>
              <a:buChar char="●"/>
            </a:pPr>
            <a: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  <a:t>Implementar autenticación por roles (asesor comercial y administrador) para garantizar la seguridad del acceso.</a:t>
            </a:r>
            <a:b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825"/>
              <a:buChar char="●"/>
            </a:pPr>
            <a:r>
              <a:rPr lang="es-419" sz="1797">
                <a:latin typeface="Times New Roman"/>
                <a:ea typeface="Times New Roman"/>
                <a:cs typeface="Times New Roman"/>
                <a:sym typeface="Times New Roman"/>
              </a:rPr>
              <a:t>Integrar el sistema con los datos del inventario de la empresa para consultar productos disponibles sin gestionarlos directamente.</a:t>
            </a:r>
            <a:endParaRPr sz="179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49009"/>
              <a:buNone/>
            </a:pPr>
            <a:r>
              <a:t/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229600" y="4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</a:rPr>
              <a:t>5. Justificación </a:t>
            </a:r>
            <a:endParaRPr b="1" sz="2000"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147600" y="1090050"/>
            <a:ext cx="89964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Actualmente, Industrias Alimenticias Pronavid S.A.S. carece de un sistema automatizado que le permita gestionar de forma eficiente y segura su proceso de ventas. El uso de herramientas manuales ha ocasionado errores frecuentes, pérdida de información, retrasos en la atención al cliente y una limitada capacidad para analizar datos comerciales.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implementación de un sistema de información interno, con enfoque en la gestión de ventas y dependiente del inventario como fuente de datos para los productos ofrecidos, permitirá centralizar el registro de pedidos y cotizaciones, mejorar el seguimiento de las ventas, generar reportes útiles, y brindar soporte a las decisiones estratégicas de la empresa. Al ser de uso exclusivo para personal autorizado (asesores y administradores), se garantiza un entorno controlado, seguro y adaptado a las necesidades específicas del área comercial.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598600" y="7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4957275" y="1309600"/>
            <a:ext cx="38109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sistema estará limitado a uso interno del personal comercial, sin incluir pagos electrónicos, facturación automática, portal de compras para clientes externos, integración con las áreas de producción, finanzas o logística, ni un sistema completo de inventario, y su disponibilidad será exclusivamente en versión web.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262750" y="1309600"/>
            <a:ext cx="43092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s-419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5960625" y="1812400"/>
            <a:ext cx="201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1838650" y="1606675"/>
            <a:ext cx="115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5583150" y="683450"/>
            <a:ext cx="201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385900" y="2272975"/>
            <a:ext cx="4062900" cy="20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sistema información interno estará orientado a la gestión del proceso de ventas en Industrias Alimenticias Pronavid S.A.S., incluyendo el registro de cotizaciones y pedidos, seguimiento de pedido, historial de compras por cliente, generación de reportes básicos y autenticación de usuarios internos (asesores y administradores), con almacenamiento de datos en servidores locales o en la nube de la propia empresa (dependiendo los recursos ). El proyecto se desarrollará e implementará progresivamente en un plazo estimado de seis (6) a siete (7) trimestres.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0" y="-8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(Asesor 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5" y="397700"/>
            <a:ext cx="3041025" cy="2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6600" y="397696"/>
            <a:ext cx="3041036" cy="2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2975" y="397700"/>
            <a:ext cx="3041026" cy="322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0" y="-8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(asesor)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84475" y="364200"/>
            <a:ext cx="4992300" cy="47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45875" y="364195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900" u="sng">
                <a:solidFill>
                  <a:schemeClr val="hlink"/>
                </a:solidFill>
                <a:hlinkClick r:id="rId3"/>
              </a:rPr>
              <a:t>https://docs.google.com/forms/d/e/1FAIpQLSdm0l6DoFSsKgOwhQhKWB0ZliHal31-0OVelrCrDQT7iUvXXw/viewform?usp=header</a:t>
            </a:r>
            <a:endParaRPr i="1" sz="90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4200"/>
            <a:ext cx="2995251" cy="29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4375" y="355400"/>
            <a:ext cx="2995251" cy="29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9625" y="437450"/>
            <a:ext cx="3074376" cy="27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-114950" y="572700"/>
            <a:ext cx="51627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25" y="572700"/>
            <a:ext cx="2871974" cy="27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9200" y="572700"/>
            <a:ext cx="2821291" cy="274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500" y="576450"/>
            <a:ext cx="2821300" cy="275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203700" y="4689600"/>
            <a:ext cx="693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https://docs.google.com/forms/d/e/1FAIpQLSftLaRVAAo66gklueiwOyMRtcFkgAFqLOk_gS0zpw7TVIlroQ/viewform?usp=header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72700"/>
            <a:ext cx="3032075" cy="290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075" y="572700"/>
            <a:ext cx="3032076" cy="285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0550" y="572700"/>
            <a:ext cx="3032076" cy="2838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1203700" y="4689600"/>
            <a:ext cx="693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https://docs.google.com/forms/d/e/1FAIpQLSftLaRVAAo66gklueiwOyMRtcFkgAFqLOk_gS0zpw7TVIlroQ/viewform?usp=header</a:t>
            </a:r>
            <a:endParaRPr i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3825" y="511275"/>
            <a:ext cx="4308890" cy="38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1702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2425" y="0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50" y="411625"/>
            <a:ext cx="7966526" cy="417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319175" y="4726125"/>
            <a:ext cx="2602500" cy="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hlink"/>
                </a:solidFill>
                <a:hlinkClick r:id="rId5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93400"/>
            <a:ext cx="7966525" cy="414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200" y="782275"/>
            <a:ext cx="8513309" cy="39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66375"/>
            <a:ext cx="8092575" cy="39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100" y="969200"/>
            <a:ext cx="68484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241100" y="20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120">
                <a:latin typeface="Times New Roman"/>
                <a:ea typeface="Times New Roman"/>
                <a:cs typeface="Times New Roman"/>
                <a:sym typeface="Times New Roman"/>
              </a:rPr>
              <a:t>Requisitos de software</a:t>
            </a:r>
            <a:endParaRPr b="1"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64400" y="1117250"/>
            <a:ext cx="4725000" cy="32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Registro de usuario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Inicio de sesión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Recuperación de contraseña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Gestión de roles y permisos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Gestión de productos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Cómo ingresar productos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Gestión de ventas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Generación de cotización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Seguimiento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Edición y actualización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Historial de ventas por cliente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Registro de devoluciones o cancelaciones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Notificaciones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Búsqueda avanzada de ventas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Generación de reportes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Cierre de sesión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64400" y="695738"/>
            <a:ext cx="3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funcionales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5697300" y="1247375"/>
            <a:ext cx="3762600" cy="32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Respaldo de información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Conformidad legal.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5697300" y="820125"/>
            <a:ext cx="344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no funcionales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9775" y="4497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31"/>
          <p:cNvGraphicFramePr/>
          <p:nvPr/>
        </p:nvGraphicFramePr>
        <p:xfrm>
          <a:off x="1243900" y="41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usuario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formulario de registro debe estar disponible desde la pantalla de inicio mediante un botón o enlace claramente visible.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una persona cree una cuenta personal proporcionando su información básica a través de un formulario de registro.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32"/>
          <p:cNvGraphicFramePr/>
          <p:nvPr/>
        </p:nvGraphicFramePr>
        <p:xfrm>
          <a:off x="1572825" y="75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formulario de inicio de sesión debe estar accesible desde la pantalla principal de la aplicación o sitio web.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usuarios registrados puedan acceder a su cuenta introduciendo su correo electrónico y contraseña en un formulario de autenticación, validando las credenciales y redirigiendo según su rol.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33"/>
          <p:cNvGraphicFramePr/>
          <p:nvPr/>
        </p:nvGraphicFramePr>
        <p:xfrm>
          <a:off x="1416050" y="69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Recuperación de contraseña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Desde la pantalla de inicio de sesión, el sistema debe ofrecer una opción para recuperar la contraseña olvidada.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solicitar un enlace de recuperación de contraseña, enviado al correo registrado, para establecer una nueva contraseña de forma segura.</a:t>
                      </a:r>
                      <a:b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34"/>
          <p:cNvGraphicFramePr/>
          <p:nvPr/>
        </p:nvGraphicFramePr>
        <p:xfrm>
          <a:off x="1416050" y="36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roles y permisos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definir y administrar distintos roles de usuario con permisos específicos sobre las funciones del sistema.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administradores configuren roles como “Asesor” y “Administrador”, asignando a cada uno diferentes niveles de acceso y privilegios sobre las funciones del sistema.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35"/>
          <p:cNvGraphicFramePr/>
          <p:nvPr/>
        </p:nvGraphicFramePr>
        <p:xfrm>
          <a:off x="1416050" y="22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productos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registrar, consultar, actualizar y eliminar productos, incluyendo información como nombre, categoría, precio, cantidad en stock y descripción.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Desde el módulo de productos, los usuarios autorizados podrán dar de alta nuevos productos, editar los existentes, eliminarlos o consultar su información para mantener actualizado el catálogo de ventas.</a:t>
                      </a:r>
                      <a:b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36"/>
          <p:cNvGraphicFramePr/>
          <p:nvPr/>
        </p:nvGraphicFramePr>
        <p:xfrm>
          <a:off x="1416050" y="242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Ingreso de productos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incluir un flujo claro para el ingreso de productos, con validaciones y confirmación.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usuarios administradores, desde el módulo de productos, podrán registrar un nuevo producto accediendo al menú “Productos” desde el panel principal, haciendo clic en “Registrar producto” y llenando un formulario con los campos: nombre, categoría, precio unitario, cantidad inicial en stock, descripción y código interno. Una vez completado, deberán validar los datos antes de guardarlos y, al finalizar, el sistema mostrará una confirmación visual del registro exitoso.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p37"/>
          <p:cNvGraphicFramePr/>
          <p:nvPr/>
        </p:nvGraphicFramePr>
        <p:xfrm>
          <a:off x="1416050" y="8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Gestión de ventas</a:t>
                      </a:r>
                      <a:endParaRPr b="1"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puede registrar una nueva venta.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registrar, consultar, modificar y eliminar ventas realizadas, así como generar reportes relacionados.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p38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cotización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ingresar datos del cliente y detallar productos o servicios, incluyendo cantidad, precio unitario, descuentos e impuestos, con cálculo automático del total.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generar cotizaciones de productos o servicios seleccionados, incluyendo detalles como cliente, precios y condiciones de pago.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39"/>
          <p:cNvGraphicFramePr/>
          <p:nvPr/>
        </p:nvGraphicFramePr>
        <p:xfrm>
          <a:off x="1416050" y="69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Seguimiento de pedidos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mostrar el estado actual del pedido.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(clientes y personal autorizado) consultar el estado de los pedidos realizados, desde su creación hasta su entrega final.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40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de ventas por cliente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El sistema debe mostrar un listado cronológico de todas las ventas asociadas a un cliente.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consultar todas las ventas realizadas a un cliente específico, mostrando un registro detallado de cada transacción.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41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devoluciones o cancelaciones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Cada devolución o cancelación debe registrarse con datos específicos como número de venta, productos involucrados, cantidades, motivo, fecha y usuario responsable..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y gestionar las devoluciones o cancelaciones de ventas realizadas, asegurando que estos procesos se documenten correctamente.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42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Notificaciones de pedidos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enviar alertas para eventos clave como la creación del pedido, aprobación, despacho, entrega o cancelación.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enviar notificaciones automáticas a los usuarios relevantes sobre cambios importantes en el estado de los pedidos.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43"/>
          <p:cNvGraphicFramePr/>
          <p:nvPr/>
        </p:nvGraphicFramePr>
        <p:xfrm>
          <a:off x="1416050" y="60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Búsqueda avanzada de ventas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búsqueda debe permitir filtrar ventas por fecha, cliente, productos, estado, método de pago, rango de montos y empleado responsable.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proporcionar una funcionalidad de búsqueda avanzada que permita a los usuarios localizar ventas específicas mediante múltiples filtros.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44"/>
          <p:cNvGraphicFramePr/>
          <p:nvPr/>
        </p:nvGraphicFramePr>
        <p:xfrm>
          <a:off x="1416050" y="41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reportes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generar y exportar reportes detallados de ventas, productos más vendidos, ingresos por períodos, clientes frecuentes y desempeño comercial.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generar reportes automáticos con filtros configurables (por cliente, producto, período, estado, etc.) y permitir su exportación a formatos como PDF y Excel para análisis externo.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45"/>
          <p:cNvGraphicFramePr/>
          <p:nvPr/>
        </p:nvGraphicFramePr>
        <p:xfrm>
          <a:off x="1416050" y="60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Cierre de sesión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cerrar sesión desde cualquier pantalla de la aplicación mediante un botón claramente visible.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finalizar la sesión activa del usuario, liberando sus recursos y redirigiendo a la pantalla de inicio de sesión.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6"/>
          <p:cNvSpPr txBox="1"/>
          <p:nvPr>
            <p:ph type="title"/>
          </p:nvPr>
        </p:nvSpPr>
        <p:spPr>
          <a:xfrm>
            <a:off x="197400" y="178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Requerimientos no funcionales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6" name="Google Shape;276;p46"/>
          <p:cNvGraphicFramePr/>
          <p:nvPr/>
        </p:nvGraphicFramePr>
        <p:xfrm>
          <a:off x="962013" y="133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accesible para el usuario de acuerdo a la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disposición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 jornada laboral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disponible al menos el 99% del tiempo durante el horario laboral de la empresa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47"/>
          <p:cNvGraphicFramePr/>
          <p:nvPr/>
        </p:nvGraphicFramePr>
        <p:xfrm>
          <a:off x="962013" y="113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Rendimiento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está optimizado para la respuesta inmediata al usuario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responder a cualquier consulta o acción del usuario en menos de 3 segundos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Google Shape;286;p48"/>
          <p:cNvGraphicFramePr/>
          <p:nvPr/>
        </p:nvGraphicFramePr>
        <p:xfrm>
          <a:off x="1038213" y="75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Seguridad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le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permitirá al usuario hacer un 2FA (autenticación de dos factores) y el resguardo de sus datos sensibles mediante encriptación de estos.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contar con autenticación de usuarios y encriptación de datos sensibles como contraseñas y correos.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49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Escalabilidad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estará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sujeto a constante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actualización.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poder adaptarse al crecimiento del número de clientes y usuarios sin pérdida de rendimiento.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p50"/>
          <p:cNvGraphicFramePr/>
          <p:nvPr/>
        </p:nvGraphicFramePr>
        <p:xfrm>
          <a:off x="1038213" y="90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{22337ACD-54AB-4CC3-A90D-E190F14571AE}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Compatibilidad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</a:t>
                      </a: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afín y de fácil acceso desde cualquier navegador web.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ser accesible desde navegadores web modernos (Chrome, Firefox, Edge).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Google Shape;301;p51"/>
          <p:cNvGraphicFramePr/>
          <p:nvPr/>
        </p:nvGraphicFramePr>
        <p:xfrm>
          <a:off x="1276750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{2D6CA03F-5D83-467B-8366-BEEC653AB09D}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Usabilidad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tendrá una interfaz sencilla y clara, pensada para usuarios sin conocimientos técnicos.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interfaz del sistema debe ser intuitiva y amigable para usuarios sin conocimientos técnicos avanzados.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52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{2D6CA03F-5D83-467B-8366-BEEC653AB09D}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Mantenibilidad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código será limpio y modular, permitiendo actualizaciones y correcciones con facilidad.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desarrollado con buenas prácticas que permitan su fácil mantenimiento y actualización.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53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{2D6CA03F-5D83-467B-8366-BEEC653AB09D}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Respaldo de información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 harán copias de seguridad automáticas diarias para proteger la base de datos.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realizar respaldos automáticos diarios de la base de datos.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" name="Google Shape;316;p54"/>
          <p:cNvGraphicFramePr/>
          <p:nvPr/>
        </p:nvGraphicFramePr>
        <p:xfrm>
          <a:off x="1305625" y="3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{2D6CA03F-5D83-467B-8366-BEEC653AB09D}</a:tableStyleId>
              </a:tblPr>
              <a:tblGrid>
                <a:gridCol w="1665625"/>
                <a:gridCol w="4620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 sz="1150">
                          <a:solidFill>
                            <a:srgbClr val="222222"/>
                          </a:solidFill>
                        </a:rPr>
                        <a:t>confiabilidad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tener un tiempo de disponibilidad del 99% mensual, evitando caídas prolongadas.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garantizar una alta disponibilidad y funcionamiento continuo, asegurando que los datos procesados y almacenados sean consistentes y libres de errores, minimizando el riesgo de fallos o pérdidas de información durante las operaciones.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Google Shape;321;p55"/>
          <p:cNvGraphicFramePr/>
          <p:nvPr/>
        </p:nvGraphicFramePr>
        <p:xfrm>
          <a:off x="1429150" y="1040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{2D6CA03F-5D83-467B-8366-BEEC653AB09D}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Conformidad legal</a:t>
                      </a:r>
                      <a:endParaRPr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Cumplirá con la Ley 1581 de 2012, protegiendo los datos personales de los usuarios.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cumplir con las normativas de protección de datos vigentes en Colombia (Ley 1581 de 2012).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/>
              <a:t>Ficha </a:t>
            </a:r>
            <a:r>
              <a:rPr b="1" lang="es-419" sz="1800"/>
              <a:t>técnica</a:t>
            </a:r>
            <a:r>
              <a:rPr b="1" lang="es-419" sz="1800"/>
              <a:t> </a:t>
            </a:r>
            <a:endParaRPr b="1"/>
          </a:p>
        </p:txBody>
      </p:sp>
      <p:sp>
        <p:nvSpPr>
          <p:cNvPr id="327" name="Google Shape;327;p56"/>
          <p:cNvSpPr txBox="1"/>
          <p:nvPr>
            <p:ph idx="1" type="body"/>
          </p:nvPr>
        </p:nvSpPr>
        <p:spPr>
          <a:xfrm>
            <a:off x="311700" y="1027775"/>
            <a:ext cx="452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dk1"/>
                </a:solidFill>
              </a:rPr>
              <a:t>en este espacio se </a:t>
            </a:r>
            <a:r>
              <a:rPr lang="es-419">
                <a:solidFill>
                  <a:schemeClr val="dk1"/>
                </a:solidFill>
              </a:rPr>
              <a:t>mostrarán</a:t>
            </a:r>
            <a:r>
              <a:rPr lang="es-419">
                <a:solidFill>
                  <a:schemeClr val="dk1"/>
                </a:solidFill>
              </a:rPr>
              <a:t> los equipos que consideramos los mejores dado la calidad</a:t>
            </a:r>
            <a:r>
              <a:rPr lang="es-419">
                <a:solidFill>
                  <a:schemeClr val="dk1"/>
                </a:solidFill>
                <a:highlight>
                  <a:srgbClr val="FFFFFF"/>
                </a:highlight>
              </a:rPr>
              <a:t>/</a:t>
            </a:r>
            <a:r>
              <a:rPr lang="es-419">
                <a:solidFill>
                  <a:schemeClr val="dk1"/>
                </a:solidFill>
              </a:rPr>
              <a:t>precio estos fueron los que elegimos de acuerdo a la </a:t>
            </a:r>
            <a:r>
              <a:rPr lang="es-419">
                <a:solidFill>
                  <a:schemeClr val="dk1"/>
                </a:solidFill>
              </a:rPr>
              <a:t>cotización</a:t>
            </a:r>
            <a:r>
              <a:rPr lang="es-419">
                <a:solidFill>
                  <a:schemeClr val="dk1"/>
                </a:solidFill>
              </a:rPr>
              <a:t> hecha en el siguiente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documento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/>
          <p:nvPr>
            <p:ph type="title"/>
          </p:nvPr>
        </p:nvSpPr>
        <p:spPr>
          <a:xfrm>
            <a:off x="340100" y="150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6072"/>
            <a:ext cx="9144001" cy="4851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8"/>
          <p:cNvSpPr txBox="1"/>
          <p:nvPr>
            <p:ph type="title"/>
          </p:nvPr>
        </p:nvSpPr>
        <p:spPr>
          <a:xfrm>
            <a:off x="288225" y="1582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4384"/>
            <a:ext cx="9144000" cy="4447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9"/>
          <p:cNvSpPr txBox="1"/>
          <p:nvPr>
            <p:ph type="title"/>
          </p:nvPr>
        </p:nvSpPr>
        <p:spPr>
          <a:xfrm>
            <a:off x="382100" y="208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0100"/>
            <a:ext cx="9144000" cy="460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0"/>
          <p:cNvSpPr txBox="1"/>
          <p:nvPr>
            <p:ph type="title"/>
          </p:nvPr>
        </p:nvSpPr>
        <p:spPr>
          <a:xfrm>
            <a:off x="311700" y="1618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5290"/>
            <a:ext cx="9143999" cy="45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1"/>
          <p:cNvSpPr txBox="1"/>
          <p:nvPr>
            <p:ph type="title"/>
          </p:nvPr>
        </p:nvSpPr>
        <p:spPr>
          <a:xfrm>
            <a:off x="311700" y="174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855"/>
            <a:ext cx="9144000" cy="4651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/>
          <p:cNvSpPr txBox="1"/>
          <p:nvPr>
            <p:ph type="title"/>
          </p:nvPr>
        </p:nvSpPr>
        <p:spPr>
          <a:xfrm>
            <a:off x="311700" y="174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278"/>
            <a:ext cx="9144000" cy="445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3"/>
          <p:cNvSpPr txBox="1"/>
          <p:nvPr>
            <p:ph type="title"/>
          </p:nvPr>
        </p:nvSpPr>
        <p:spPr>
          <a:xfrm>
            <a:off x="311700" y="174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6" name="Google Shape;37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4714"/>
            <a:ext cx="9143999" cy="4454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4"/>
          <p:cNvSpPr txBox="1"/>
          <p:nvPr>
            <p:ph type="title"/>
          </p:nvPr>
        </p:nvSpPr>
        <p:spPr>
          <a:xfrm>
            <a:off x="311700" y="174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1107"/>
            <a:ext cx="9143999" cy="4481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 txBox="1"/>
          <p:nvPr>
            <p:ph type="title"/>
          </p:nvPr>
        </p:nvSpPr>
        <p:spPr>
          <a:xfrm>
            <a:off x="311700" y="174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6800"/>
            <a:ext cx="9144000" cy="444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/>
          <p:nvPr>
            <p:ph type="title"/>
          </p:nvPr>
        </p:nvSpPr>
        <p:spPr>
          <a:xfrm>
            <a:off x="311700" y="174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6123"/>
            <a:ext cx="9144001" cy="4431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7598"/>
            <a:ext cx="9144000" cy="4768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3050"/>
            <a:ext cx="9144001" cy="401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type="title"/>
          </p:nvPr>
        </p:nvSpPr>
        <p:spPr>
          <a:xfrm>
            <a:off x="311700" y="101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6464"/>
            <a:ext cx="9143999" cy="3750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5" name="Google Shape;42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3025"/>
            <a:ext cx="9143998" cy="389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1793"/>
            <a:ext cx="9143998" cy="3699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7" name="Google Shape;43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7679"/>
            <a:ext cx="9143999" cy="3708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7594"/>
            <a:ext cx="9143998" cy="364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3496"/>
            <a:ext cx="9144002" cy="3676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7" name="Google Shape;45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4767"/>
            <a:ext cx="9144002" cy="349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3" name="Google Shape;46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8596"/>
            <a:ext cx="9144000" cy="3446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9968"/>
            <a:ext cx="9143998" cy="383281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77"/>
          <p:cNvSpPr txBox="1"/>
          <p:nvPr/>
        </p:nvSpPr>
        <p:spPr>
          <a:xfrm>
            <a:off x="4154550" y="4617575"/>
            <a:ext cx="8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hlink"/>
                </a:solidFill>
                <a:hlinkClick r:id="rId4"/>
              </a:rPr>
              <a:t>LINK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8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/>
              <a:t>Modelo entidad </a:t>
            </a:r>
            <a:r>
              <a:rPr b="1" lang="es-419" sz="1800"/>
              <a:t>relación</a:t>
            </a:r>
            <a:endParaRPr b="1"/>
          </a:p>
        </p:txBody>
      </p:sp>
      <p:sp>
        <p:nvSpPr>
          <p:cNvPr id="475" name="Google Shape;475;p78"/>
          <p:cNvSpPr txBox="1"/>
          <p:nvPr/>
        </p:nvSpPr>
        <p:spPr>
          <a:xfrm>
            <a:off x="1179600" y="4820400"/>
            <a:ext cx="796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/>
              <a:t>https://drive.google.com/file/d/1OdRn2jJEu6uaRH__xc0IfHEfHp5JtbXy/view?usp=sharing</a:t>
            </a:r>
            <a:endParaRPr sz="900"/>
          </a:p>
        </p:txBody>
      </p:sp>
      <p:pic>
        <p:nvPicPr>
          <p:cNvPr id="476" name="Google Shape;47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68575"/>
            <a:ext cx="8478949" cy="40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9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/>
              <a:t>Modelo entidad </a:t>
            </a:r>
            <a:r>
              <a:rPr b="1" lang="es-419" sz="1800"/>
              <a:t>relación extendido</a:t>
            </a:r>
            <a:endParaRPr b="1"/>
          </a:p>
        </p:txBody>
      </p:sp>
      <p:pic>
        <p:nvPicPr>
          <p:cNvPr id="482" name="Google Shape;48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125" y="637550"/>
            <a:ext cx="7306899" cy="4349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79"/>
          <p:cNvSpPr txBox="1"/>
          <p:nvPr/>
        </p:nvSpPr>
        <p:spPr>
          <a:xfrm>
            <a:off x="589800" y="4882525"/>
            <a:ext cx="796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/>
              <a:t>https://drive.google.com/file/d/1onux12qJvwKdPzgZfl-YvKdl1ET0dhKR/view?usp=sharing</a:t>
            </a:r>
            <a:endParaRPr sz="9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0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Modelo Relacional</a:t>
            </a:r>
            <a:endParaRPr/>
          </a:p>
        </p:txBody>
      </p:sp>
      <p:pic>
        <p:nvPicPr>
          <p:cNvPr id="489" name="Google Shape;48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9017" y="0"/>
            <a:ext cx="54831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1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495" name="Google Shape;49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925" y="1084538"/>
            <a:ext cx="7830751" cy="37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2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501" name="Google Shape;50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75" y="851475"/>
            <a:ext cx="8621025" cy="405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3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507" name="Google Shape;50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6500"/>
            <a:ext cx="8839201" cy="3413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4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diccionario base de datos pronavid </a:t>
            </a:r>
            <a:endParaRPr/>
          </a:p>
        </p:txBody>
      </p:sp>
      <p:pic>
        <p:nvPicPr>
          <p:cNvPr id="513" name="Google Shape;51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5425"/>
            <a:ext cx="8839201" cy="414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5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519" name="Google Shape;51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00" y="1187475"/>
            <a:ext cx="8839200" cy="36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6"/>
          <p:cNvSpPr txBox="1"/>
          <p:nvPr>
            <p:ph type="title"/>
          </p:nvPr>
        </p:nvSpPr>
        <p:spPr>
          <a:xfrm>
            <a:off x="1155200" y="2115300"/>
            <a:ext cx="6491700" cy="9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133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link de el diccionario de datos pronavid</a:t>
            </a:r>
            <a:endParaRPr sz="3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